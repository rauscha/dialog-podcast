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9b32ec42524ca3" /><Relationship Type="http://schemas.openxmlformats.org/officeDocument/2006/relationships/extended-properties" Target="/docProps/app.xml" Id="Redd6c91f3c9844b7" /><Relationship Type="http://schemas.openxmlformats.org/officeDocument/2006/relationships/officeDocument" Target="/ppt/presentation.xml" Id="Re1bb7462c12e42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da76c062944322"/>
  </p:sldMasterIdLst>
  <p:notesMasterIdLst>
    <p:notesMasterId xmlns:r="http://schemas.openxmlformats.org/officeDocument/2006/relationships" r:id="Rcd59187da8b04288"/>
  </p:notesMasterIdLst>
  <p:sldIdLst>
    <p:sldId xmlns:r="http://schemas.openxmlformats.org/officeDocument/2006/relationships" id="256" r:id="Rb91f1377de284eea"/>
    <p:sldId xmlns:r="http://schemas.openxmlformats.org/officeDocument/2006/relationships" id="257" r:id="Ra5de45a2fdc14e3b"/>
    <p:sldId xmlns:r="http://schemas.openxmlformats.org/officeDocument/2006/relationships" id="258" r:id="Re8a383b9cfaa4456"/>
    <p:sldId xmlns:r="http://schemas.openxmlformats.org/officeDocument/2006/relationships" id="259" r:id="Rca196cca965349c7"/>
    <p:sldId xmlns:r="http://schemas.openxmlformats.org/officeDocument/2006/relationships" id="260" r:id="R9e441565ebbf4309"/>
    <p:sldId xmlns:r="http://schemas.openxmlformats.org/officeDocument/2006/relationships" id="261" r:id="Rd1e8976deaa54992"/>
    <p:sldId xmlns:r="http://schemas.openxmlformats.org/officeDocument/2006/relationships" id="262" r:id="Re6b7772ef1464f2d"/>
    <p:sldId xmlns:r="http://schemas.openxmlformats.org/officeDocument/2006/relationships" id="263" r:id="R45abe9be49a1462a"/>
    <p:sldId xmlns:r="http://schemas.openxmlformats.org/officeDocument/2006/relationships" id="264" r:id="Rdee9578bfc0d4cb3"/>
    <p:sldId xmlns:r="http://schemas.openxmlformats.org/officeDocument/2006/relationships" id="265" r:id="R83fab2ac7f6a4bee"/>
    <p:sldId xmlns:r="http://schemas.openxmlformats.org/officeDocument/2006/relationships" id="266" r:id="Rebf380a869874cd8"/>
    <p:sldId xmlns:r="http://schemas.openxmlformats.org/officeDocument/2006/relationships" id="267" r:id="Rd5ac2b8d9e19479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da76c062944322" /><Relationship Type="http://schemas.openxmlformats.org/officeDocument/2006/relationships/theme" Target="/ppt/theme/theme1.xml" Id="Rc1705ab9bd024602" /><Relationship Type="http://schemas.openxmlformats.org/officeDocument/2006/relationships/notesMaster" Target="/ppt/notesMasters/notesMaster1.xml" Id="Rcd59187da8b04288" /><Relationship Type="http://schemas.openxmlformats.org/officeDocument/2006/relationships/presProps" Target="/ppt/presProps.xml" Id="R38406b3385754e18" /><Relationship Type="http://schemas.openxmlformats.org/officeDocument/2006/relationships/viewProps" Target="/ppt/viewProps.xml" Id="R59cb67ce22754d64" /><Relationship Type="http://schemas.openxmlformats.org/officeDocument/2006/relationships/tableStyles" Target="/ppt/tableStyles.xml" Id="Rb379aad17e8042f6" /><Relationship Type="http://schemas.openxmlformats.org/officeDocument/2006/relationships/slide" Target="/ppt/slides/slide1.xml" Id="Rb91f1377de284eea" /><Relationship Type="http://schemas.openxmlformats.org/officeDocument/2006/relationships/slide" Target="/ppt/slides/slide2.xml" Id="Ra5de45a2fdc14e3b" /><Relationship Type="http://schemas.openxmlformats.org/officeDocument/2006/relationships/slide" Target="/ppt/slides/slide3.xml" Id="Re8a383b9cfaa4456" /><Relationship Type="http://schemas.openxmlformats.org/officeDocument/2006/relationships/slide" Target="/ppt/slides/slide4.xml" Id="Rca196cca965349c7" /><Relationship Type="http://schemas.openxmlformats.org/officeDocument/2006/relationships/slide" Target="/ppt/slides/slide5.xml" Id="R9e441565ebbf4309" /><Relationship Type="http://schemas.openxmlformats.org/officeDocument/2006/relationships/slide" Target="/ppt/slides/slide6.xml" Id="Rd1e8976deaa54992" /><Relationship Type="http://schemas.openxmlformats.org/officeDocument/2006/relationships/slide" Target="/ppt/slides/slide7.xml" Id="Re6b7772ef1464f2d" /><Relationship Type="http://schemas.openxmlformats.org/officeDocument/2006/relationships/slide" Target="/ppt/slides/slide8.xml" Id="R45abe9be49a1462a" /><Relationship Type="http://schemas.openxmlformats.org/officeDocument/2006/relationships/slide" Target="/ppt/slides/slide9.xml" Id="Rdee9578bfc0d4cb3" /><Relationship Type="http://schemas.openxmlformats.org/officeDocument/2006/relationships/slide" Target="/ppt/slides/slide10.xml" Id="R83fab2ac7f6a4bee" /><Relationship Type="http://schemas.openxmlformats.org/officeDocument/2006/relationships/slide" Target="/ppt/slides/slide11.xml" Id="Rebf380a869874cd8" /><Relationship Type="http://schemas.openxmlformats.org/officeDocument/2006/relationships/slide" Target="/ppt/slides/slide12.xml" Id="Rd5ac2b8d9e1947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c9f5681e5334f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017f54a564bb8" /><Relationship Type="http://schemas.openxmlformats.org/officeDocument/2006/relationships/notesMaster" Target="/ppt/notesMasters/notesMaster1.xml" Id="Rdc88ed582fa040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83262edfa04aee" /><Relationship Type="http://schemas.openxmlformats.org/officeDocument/2006/relationships/notesMaster" Target="/ppt/notesMasters/notesMaster1.xml" Id="R006f9d59209c40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cd3d689fea48c3" /><Relationship Type="http://schemas.openxmlformats.org/officeDocument/2006/relationships/notesMaster" Target="/ppt/notesMasters/notesMaster1.xml" Id="R5d5f53a30a5645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63548091b14f15" /><Relationship Type="http://schemas.openxmlformats.org/officeDocument/2006/relationships/notesMaster" Target="/ppt/notesMasters/notesMaster1.xml" Id="Rce02994265784b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6965b8fb28943ed" /><Relationship Type="http://schemas.openxmlformats.org/officeDocument/2006/relationships/notesMaster" Target="/ppt/notesMasters/notesMaster1.xml" Id="Ra093aff0115b48b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f364269738413b" /><Relationship Type="http://schemas.openxmlformats.org/officeDocument/2006/relationships/notesMaster" Target="/ppt/notesMasters/notesMaster1.xml" Id="R5f1ebb55e05140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8e2b5e7deb54d03" /><Relationship Type="http://schemas.openxmlformats.org/officeDocument/2006/relationships/notesMaster" Target="/ppt/notesMasters/notesMaster1.xml" Id="Re8af5dbe69ba47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d52831e8cd64464" /><Relationship Type="http://schemas.openxmlformats.org/officeDocument/2006/relationships/notesMaster" Target="/ppt/notesMasters/notesMaster1.xml" Id="R3ce5b17061d04f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3531cb04b47eb" /><Relationship Type="http://schemas.openxmlformats.org/officeDocument/2006/relationships/notesMaster" Target="/ppt/notesMasters/notesMaster1.xml" Id="R3ba136eb5dfc481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ede5f890614eac" /><Relationship Type="http://schemas.openxmlformats.org/officeDocument/2006/relationships/notesMaster" Target="/ppt/notesMasters/notesMaster1.xml" Id="R7da33e1676404a7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e4c0712a3e40b3" /><Relationship Type="http://schemas.openxmlformats.org/officeDocument/2006/relationships/notesMaster" Target="/ppt/notesMasters/notesMaster1.xml" Id="R2826740777034c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2176d28c13e46ce" /><Relationship Type="http://schemas.openxmlformats.org/officeDocument/2006/relationships/notesMaster" Target="/ppt/notesMasters/notesMaster1.xml" Id="R7d639f482f6e4b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cbdfd5d7241b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6e8591a8fd549e5" /><Relationship Type="http://schemas.openxmlformats.org/officeDocument/2006/relationships/slideLayout" Target="/ppt/slideLayouts/slideLayout2.xml" Id="R489edef85118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89edef85118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4e2f7100364b10" /><Relationship Type="http://schemas.openxmlformats.org/officeDocument/2006/relationships/image" Target="/ppt/media/image.jpeg" Id="Ra53990f74db64158" /><Relationship Type="http://schemas.openxmlformats.org/officeDocument/2006/relationships/notesSlide" Target="/ppt/notesSlides/notesSlide1.xml" Id="R319a8235f04a4a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6ef0b2592c443a" /><Relationship Type="http://schemas.openxmlformats.org/officeDocument/2006/relationships/notesSlide" Target="/ppt/notesSlides/notesSlide2.xml" Id="Rd8860138fc80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565038322e4d7f" /><Relationship Type="http://schemas.openxmlformats.org/officeDocument/2006/relationships/notesSlide" Target="/ppt/notesSlides/notesSlide3.xml" Id="Rc6e5419e807a43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fff1c3f1dd40aa" /><Relationship Type="http://schemas.openxmlformats.org/officeDocument/2006/relationships/notesSlide" Target="/ppt/notesSlides/notesSlide4.xml" Id="R23034fa263f1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9c5d56761b46b1" /><Relationship Type="http://schemas.openxmlformats.org/officeDocument/2006/relationships/notesSlide" Target="/ppt/notesSlides/notesSlide5.xml" Id="R1f24a863718d4f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46d651cb46426e" /><Relationship Type="http://schemas.openxmlformats.org/officeDocument/2006/relationships/notesSlide" Target="/ppt/notesSlides/notesSlide6.xml" Id="R29410a591c094f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bfce3904c844e7" /><Relationship Type="http://schemas.openxmlformats.org/officeDocument/2006/relationships/notesSlide" Target="/ppt/notesSlides/notesSlide7.xml" Id="R85dbf5ceff8c48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dfe41003e44191" /><Relationship Type="http://schemas.openxmlformats.org/officeDocument/2006/relationships/notesSlide" Target="/ppt/notesSlides/notesSlide8.xml" Id="R2ec98a3c62334c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98f7535e245f0" /><Relationship Type="http://schemas.openxmlformats.org/officeDocument/2006/relationships/notesSlide" Target="/ppt/notesSlides/notesSlide9.xml" Id="R5118f53ef46e418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4cf866153e40bc" /><Relationship Type="http://schemas.openxmlformats.org/officeDocument/2006/relationships/notesSlide" Target="/ppt/notesSlides/notesSlide10.xml" Id="R742f2a1a333b4e9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813ea702784b55" /><Relationship Type="http://schemas.openxmlformats.org/officeDocument/2006/relationships/notesSlide" Target="/ppt/notesSlides/notesSlide11.xml" Id="R3db539f26482407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48ad2e07fe45dd" /><Relationship Type="http://schemas.openxmlformats.org/officeDocument/2006/relationships/notesSlide" Target="/ppt/notesSlides/notesSlide12.xml" Id="R0782556b7e6d494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491FB8-3C97-4E95-8879-B63FFD1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E2461A-D9C2-44D8-95BB-F5768876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3638"/>
          </a:solidFill>
          <a:ln xmlns:a="http://schemas.openxmlformats.org/drawingml/2006/main" w="0">
            <a:solidFill>
              <a:srgbClr val="2B363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BFECC0-1115-4918-A6B2-E0FE0FBAC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88190-A96E-4DCD-AC42-7E61344E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BA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EBAB6"/>
                </a:solidFill>
                <a:latin typeface="Aptos"/>
                <a:ea typeface="Aptos"/>
                <a:cs typeface="Aptos"/>
              </a:rPr>
              <a:t>ASYNCHRONOUS / DIALOG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37130-0159-4DA8-B02D-4B763204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0525"/>
            <a:ext cx="1943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AB6"/>
                </a:solidFill>
                <a:latin typeface="Aptos"/>
                <a:ea typeface="Aptos"/>
                <a:cs typeface="Aptos"/>
              </a:rPr>
              <a:t>Consultant review | 2026-05-11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EB462-774E-4212-B4F0-7773CCBF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723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Make it a personal curiosity radio studio, not another AI podcast generator.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16C276-E2EA-40DC-9E1F-385AF32C0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6191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repo already has an end-to-end engine. The next leap is editorial control, provenance, Telegram UX, and audio craft.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3990f74db641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123950"/>
            <a:ext cx="2857500" cy="2857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BB060F-E8A3-41A5-AD71-E67EC8F0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952500"/>
            <a:ext cx="32004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5260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7F6A33-4DDD-4370-816E-F2AAADDA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006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620CBA-2350-48E3-AD3F-1BE2484B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8AB9A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8AB9A8"/>
                </a:solidFill>
                <a:latin typeface="Aptos Display"/>
                <a:ea typeface="Aptos Display"/>
                <a:cs typeface="Aptos Display"/>
              </a:rPr>
              <a:t>Keep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DBF29-6D21-43DB-8E2E-CF934C7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911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LOCAL PIPELINE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313F5-053D-46A0-A797-1C36E880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007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Telegram -&gt; research -&gt; audio -&gt; RSS is the valuable spine.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6F648-AEF0-4F97-8272-24461636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006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926D4-638E-48E2-B529-66712FD0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972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rPr>
              <a:t>Scrap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7D9A8-83AD-4761-B27E-1B82E095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911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DERIVATIVE PITCH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7F7294-C9FF-4D6E-AB07-0481E98E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6007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Public Radiolab positioning makes the work feel smaller.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2C6C12-CC14-4A92-A630-D07BC249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006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2FE456-5A9B-432D-99E5-5262BB47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720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D8625B-CF19-4D1D-AB8F-6B99CED0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3911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MANIFEST + APPROVAL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11709-4E6A-4E93-9D01-4DDC3C13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007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Trust and control are the product moat.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24168F-29B6-49D5-9E41-C88D8DE6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AEBAB6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AEBAB6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7080982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4F19C9-4BDA-4C29-B17F-F93A612F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ACF3D-8D0D-4942-B6D1-FFFD7B9C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B0A4FA-B640-4AC6-967C-8CCEB748B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3A5F0-A75C-40C3-9470-6F90A223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EXECUTIVE VERDICT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2ED4B-DDB2-4B17-A93A-A84D1D9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1C62D-F3C3-432F-9AAE-995F42C1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Evidence: repo review, generated artifacts, market/product docs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14001-9303-4F44-AD7E-3839F9DC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concept is strong; the generic category is not.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AF7E2-4514-4FBD-9436-C0AD6DA8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4933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6EC9D8-6320-4BC5-A498-12E10434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44005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Worthwhile: a phone-to-home-studio curiosity loop with recurring hosts and owned publishing.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58FBE2-B809-44B3-ACE1-6EF22CF5B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62350"/>
            <a:ext cx="4400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8C4C0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B8C4C0"/>
                </a:solidFill>
                <a:latin typeface="Aptos"/>
                <a:ea typeface="Aptos"/>
                <a:cs typeface="Aptos"/>
              </a:rPr>
              <a:t>Candid 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8E119-2D00-4506-A500-1B7DBBE7A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2667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AB388-C275-4C39-9526-EAD615CEE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2A0DE5-4DB7-42F9-B436-3902FE05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247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Keep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BF83A6-BECB-4D34-9AF6-8A48FE5B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57450"/>
            <a:ext cx="22479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compact five-step pipeline, Telegram trigger, two-host identity, local GPU angle, RSS ownership, and debug-friendly work dirs.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A691B-3EF0-4411-AAC9-A95FEB38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28003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85293-D189-4A80-85D3-4B4AB176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476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25E4A-BE8F-4D6C-9620-1FCD3C1B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955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Scrap or park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C82F3-8F0A-4FB2-AE75-F9218F80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57450"/>
            <a:ext cx="2381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Public imitation language, default-on YouTube clips, final-script source scraping, fake composer credit, and listener-page dead links.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285268-8290-4A3C-AC98-0A5E2C6B3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EC0B94-495D-4622-89E6-77BA007F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05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47C6C4-5D86-4A05-862C-8C9DEB5A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Immediate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7617C3-3F46-48C1-91E7-836C3B96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3870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Operational overlap, broad clip/download surface, weak source provenance, inaccurate feed duration, and accidental Telegram triggers.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A14B3-B126-4CE8-9D34-ACF47B94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4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DC11E0-7E6C-4BAE-823A-EE766E55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305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10372-FFBF-4E6B-9809-814D8A2D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Product opportunity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7AEA81-A75D-4253-B378-B69E8E4D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3870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Director's Booth approval, source cards, learning paths, host chemistry controls, and a real companion player.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5107DE-F529-4781-8826-2C16905F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3429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6D1262-FB17-41B5-A735-A03323DA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05300"/>
            <a:ext cx="476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4A2C34-6989-48B2-A1BB-2417C46F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Architecture move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FA075-1500-49F6-B164-3C6B8E7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38700"/>
            <a:ext cx="3009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Introduce an EpisodeManifest first. Refactor around it later.</a:t>
            </a:r>
          </a:p>
        </p:txBody>
      </p:sp>
    </p:spTree>
    <p:extLst>
      <p:ext uri="{BB962C8B-B14F-4D97-AF65-F5344CB8AC3E}">
        <p14:creationId xmlns:p14="http://schemas.microsoft.com/office/powerpoint/2010/main" val="14100012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692A99-8436-46EF-80A7-E9C43BD4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9EB568-7ADC-4382-A2A8-970E17924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DFC9C-CDCC-4967-9802-0903BBF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4E83B-0666-4B41-8245-DE4A3A36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MARKET REALITY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5DF41-0731-46F4-9716-BD404934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A9E5E1-80B8-4BE3-A898-2A0ADF97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Sources: NotebookLM Help, Wondercraft docs, Podcastfy PyPI, Hume case study, Podnews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DE401-FFFB-4DCF-BE02-DDB09B4D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Two AI hosts are now table stakes; editorial trust is the differentiator.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68C73-D3FB-4E58-97CE-A7C61D96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BAB71D-8A5F-4166-AAF4-CD3EC97CE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50350B-0CBF-4765-B824-AF4B515F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NotebookLM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8377A-B060-4EDB-893D-27FFDDCEA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Audio Overviews already offer AI-hosted source discussions, multiple formats, customization, and interactive mode.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C16626-4BC0-426C-BF91-CDE4627D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D02FF-0E59-4F5F-B7D4-F95B9ED7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431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E090C-1782-4139-8BD5-8E36870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859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Wondercraft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1DC80F-D679-4711-8B80-D887A2FC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371725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Two-host Convo Mode, voice selection, delivery instructions, studio polish, translation, and creator workflows.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8E1407-E5B5-4090-A9BC-E0A2E402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476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8A8273-8426-4378-9561-45C09FD8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247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872159-263C-4171-9675-0DF1FB6C5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85975"/>
            <a:ext cx="22098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Podcastfy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6621D-43B7-4BE8-8ED0-932BB557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22098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Open-source, programmatic NotebookLM alternative for multimodal, multilingual audio conversations.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DDC29-2ECE-4D05-85D8-16742D7B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27813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DBAE29-89A0-4C7C-94DB-B3EE8C87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43100"/>
            <a:ext cx="2781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0F567C-22B3-4326-AA31-E04F60839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85975"/>
            <a:ext cx="2514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Scale networks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C6C39B-6FF9-496C-9873-2FAE1F7F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71725"/>
            <a:ext cx="25146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Synthetic shows can be produced by the thousands. That makes low-effort audio feel disposable fast.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8E9FF-900F-4788-862F-91D5A0AD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6240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Strategic implication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6E4E59-715D-430B-B807-3EC09FA7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24350"/>
            <a:ext cx="561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Do not compete on one-click topic-to-audio. Compete on personal context, source provenance, approval, and Cedar/Marin as recurring editorial voices.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6DFBCB-7A33-403A-8744-FE812FBB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Commodity risk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866E3-871D-4738-AA0D-A0012898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00578-333A-45C8-A864-FC78DA5E8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114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29D80C7-381A-4577-B922-00F64378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086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703476-A046-4644-B450-6F39AE3F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Personal workflow moat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304B6-65AE-453D-A4E1-2B6089C9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DD1E73-E3B1-4D49-9B32-BD42338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95800"/>
            <a:ext cx="214884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2B8DC-D981-4FA0-82AD-590014D9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467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4/5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2F66D-E36D-46F6-919C-CC5CBDCD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57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Current public trust 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2A7F4-9191-4BC1-BEB8-3D93D3C8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C0CCD1-2644-499B-A0C5-EA579093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876800"/>
            <a:ext cx="107442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9F2E5D-2F58-46EF-B121-BFEEA4C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848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2/5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5CC4D1-0BC6-4C86-9AC7-79623FE0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38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Potential educational value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2E7551-6C12-47F2-9A68-E7745351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3E84B70-CD58-4697-A407-53257923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57800"/>
            <a:ext cx="26860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FB8A19-9A59-430E-8B50-8183E3DC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52292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</p:spTree>
    <p:extLst>
      <p:ext uri="{BB962C8B-B14F-4D97-AF65-F5344CB8AC3E}">
        <p14:creationId xmlns:p14="http://schemas.microsoft.com/office/powerpoint/2010/main" val="33989891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E39A0D-683C-4890-B7A8-D4352766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2FA73-1926-48F1-AEBD-05A48AAE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657AE-1312-4496-8AD8-42ADC67C0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805F9-CE55-41FA-8198-B5C8435A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PRODUCT STORY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17271-0EAC-4034-8987-6EC6415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ECEF96-6A37-4B50-88FA-B6D9EB7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Best user story: Telegram guide and local home-machine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06EE16-19C7-4560-8D1F-84D079F6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magic is not generation; it is capturing curiosity at the moment it appears.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5AC04-2FE9-45A7-AD3B-784E1FB5D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91B6B-330F-412E-B897-AC43D6FD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3BD82-77CA-44F1-9AA7-9507E77A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1. Stray question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06F7F3-2111-47F5-8C1E-195226EF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241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A topic arrives while walking, reading, or talking.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F24950-E81E-4C90-AD2D-76EE62B7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84F99-A286-4BA5-A7E9-776EB00B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050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B986-1B95-42B8-B277-71A50CEF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574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2. Telegram capture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01961C-CC0D-4B8C-971D-C85F41E5F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phone becomes the inbox and control surface.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388168-CAD0-4DB6-B7A8-81D4CB9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2836E-2C3C-4ECD-AF00-5F8C4BB7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3050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1F3E8E-E1FB-4000-B048-D01A26AD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574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3. Home studio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BB0C44-DFAF-4BE1-8B2C-CEA73538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241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tower researches, scripts, voices, mixes, and publishes.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2BE37-439E-4280-B9EE-772066CA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18097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019F7E-5B6B-428D-8A30-0FD9D8B8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05050"/>
            <a:ext cx="1809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514F6A-539F-4E15-BB09-12995F7C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457450"/>
            <a:ext cx="1543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4. Commute episode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C53848-1936-4131-9AEC-81433A9E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24150"/>
            <a:ext cx="1543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Tomorrow's audio is waiting in the feed.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3265F-FFB7-4C12-B13F-63BF8523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847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613CE1-6E3F-404C-BCD6-DDD31F10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95750"/>
            <a:ext cx="1847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63"/>
          </a:solidFill>
          <a:ln xmlns:a="http://schemas.openxmlformats.org/drawingml/2006/main" w="0">
            <a:solidFill>
              <a:srgbClr val="365C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F9631-7FFA-4FF5-B0F5-79203664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2481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5. Follow-up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7B1A9F-23D4-4204-8661-87903E151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14850"/>
            <a:ext cx="1581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bot asks what to clarify, quiz, or explore next.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0FE2DF-D319-4218-B0AD-B17C0F9B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7D212-11EB-489F-951C-8853EB88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E4CF4A-4F67-4F41-9691-B3B9370C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05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68AE65-99AB-4CFA-863E-DC3EB06C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3C3878-AAC9-47A4-8BA3-31456DCF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9051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D6217E-40D9-4595-9455-748AEE95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67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B94766-ACFC-4409-9864-A4DF2AD7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609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A7C211-1686-4D78-A01B-5AE492C3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76750"/>
            <a:ext cx="1524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AEBAB6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AEBAB6"/>
                </a:solidFill>
                <a:latin typeface="Aptos"/>
                <a:ea typeface="Aptos"/>
                <a:cs typeface="Aptos"/>
              </a:rPr>
              <a:t>Positioning 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5788A8-2522-4988-BACF-60341AEE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05350"/>
            <a:ext cx="533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Your personal research-radio duo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for questions you do not want to forget.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AD0E1A-B5EA-4CA8-A27C-28915F19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53050"/>
            <a:ext cx="533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This story should replace the public imitation frame.</a:t>
            </a:r>
          </a:p>
        </p:txBody>
      </p:sp>
    </p:spTree>
    <p:extLst>
      <p:ext uri="{BB962C8B-B14F-4D97-AF65-F5344CB8AC3E}">
        <p14:creationId xmlns:p14="http://schemas.microsoft.com/office/powerpoint/2010/main" val="10341775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390BB0-E22B-4EA4-95D0-5FB8C8DD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DF45F-498A-4A75-89E1-F3EDA8D3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449A0-8CF1-4B69-8972-8C4DDC3F3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44CC21-F73C-4930-8F36-078A3DFD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CURRENT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8ED8C3-D504-4EEB-A2F7-AA22CABD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A162F4-8FB7-4141-BE97-3DF0621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Evidence: generate_podcast.py, clip_mixer.py, music_gen.py, telegram_bot.py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3A8C06-288E-4DC7-A959-EEB2204E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pipeline is coherent, but metadata and control are missing.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4BE54E-9BCA-45E3-8E34-D585B291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12CBC-8B17-4598-BB32-07F9EC20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35561-86E7-4377-8A66-B6049A7F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76B8C-915A-48A7-A1C8-251ED9E9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Web-searched brief with facts, sources, angles.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91E76-35B7-4354-99E6-A18E9610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383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580E9-39AB-4E27-B0C9-E3E100AE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038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45415-14C0-4E3B-A75F-525A29DF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EFD41-0B08-4401-B18B-84CFB60C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5745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Cedar/Marin dialogue with emotion tags.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1D5D3-F979-411D-A449-E9B73D17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28DE59-425A-4769-B352-8F07E407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38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ADB2B-97A5-4199-A3E3-ADB625B3A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Fact-check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DDD507-020D-42BA-BD06-6BB6DC2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5745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Inline correction with web search.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379658-4B52-4B37-8AA2-ED87E259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182262-91AA-4FFC-9C11-A16D5DD2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38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836099-41F3-49EF-AADF-8F2AF305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Audio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0FD7AC-1270-44E3-B9C7-F1E520A0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Per-turn TTS, optional clips, optional music.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77F2C7-2164-434B-8021-7CBD8560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1524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93EA91-4887-4140-869E-74FC16B0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3835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63"/>
          </a:solidFill>
          <a:ln xmlns:a="http://schemas.openxmlformats.org/drawingml/2006/main" w="0">
            <a:solidFill>
              <a:srgbClr val="365C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3DD75F-2F79-4764-AE62-6B2C29CC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257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RSS/git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666522-04FA-48D2-92CD-D46C3556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5745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Append item, optionally commit and push.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D2ED4-09E5-44FB-9154-E5282769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6098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9DE36-6F3A-4837-97BE-BDA24879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D6EE6C-16B7-429D-8216-AB5D05FA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6098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0ED3E8-314E-4B82-9135-609D661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AD8F60-DB26-4A22-93EB-B9E63D77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6098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06952C-87A7-4F79-99A8-D6871251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943ECE-65A7-4806-A7DE-62E9E917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098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E07E56-54DD-4958-8F8A-47CBF4884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571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FBACC1-C1F9-4862-BF65-47B6C5F8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3314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876456-EBA2-456B-B1FD-DD0C89F2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05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C6ABE0-471F-4F83-B446-5D4569D3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works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0C59E1-F121-4CC9-A0B4-FD1BB010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Readable orchestration, sensible fallbacks, two-host parsing, cached intro ident, local-first runtime.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80EF0D4-952F-413D-93B8-E89F08CF0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3314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A9CBF5-63FE-4B54-9CC8-80C73222C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F58F54-F6A7-4AF7-82CE-8BAB27BE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076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breaks trust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AD6113-A636-4FB9-A3FF-18436CB5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3865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Sources scraped from spoken script, clip attributions dropped, target duration published as actual.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1FB4FB-C4C5-48B3-A08A-F00886E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33147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4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A9BE89-5277-4925-8F9A-1AED865C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05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710AC6-289A-4B5B-B87D-F8F17027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What blocks scale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CFABED-BFF3-4083-AE7D-DA4915C2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38650"/>
            <a:ext cx="2895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No run manifest, process-local lock only, partial config validation, no approval state.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75BB0BB-7620-4129-8031-312ADA7C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Design move: add manifest first, then split modules around it.</a:t>
            </a:r>
          </a:p>
        </p:txBody>
      </p:sp>
    </p:spTree>
    <p:extLst>
      <p:ext uri="{BB962C8B-B14F-4D97-AF65-F5344CB8AC3E}">
        <p14:creationId xmlns:p14="http://schemas.microsoft.com/office/powerpoint/2010/main" val="17461743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27186-F1D9-41BB-AF63-B6923536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A6ADF-9846-4F33-AE85-FC288897D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743E2-3707-4F5E-AE53-45606CB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42B3A-9D62-46CC-AFF3-757D974F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ENGINEERING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8EAECF-78F0-48A9-ADC6-B00F771F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0A07E9-03FC-46C1-B9F0-2998B8F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Evidence: agents reviewed orchestration, Telegram, audio, and artifacts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4066C-BAF4-475B-9840-75730962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code is senior-prototype good; the system boundary is still hobby-script fragile.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9C767C-7752-47D0-BBEF-90883818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6849C8-D586-4C34-8DD6-79DDB069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097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F57785-9EA4-4DBD-B31C-643E6E0A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Strength: compact spine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2BD32C-EB3A-4AC3-800B-03E0F593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One file owns orchestration. That is not beautiful, but it keeps the mental model simple while behavior is still moving.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A859A-4969-4FBF-B534-852BFF3F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0C806-15F3-4698-A20B-9A1EE03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097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2BBB3-36DE-4D52-B0E6-F7C07AC0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526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Strength: graceful degradation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C943F-82BC-4F32-9F65-B89EF1E2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383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Music and clips can fail without killing the episode. Intro ident is cached. TTS chunking is practical.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9E2CB9-5F84-4D2F-B9D6-F0F3C2B3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C7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FE5C2F-B1DF-4228-99D6-23DB3DEE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3FDDE-6A37-4439-A3EC-16560A365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Risk: config drift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B7ADF-8446-4DF1-AAC4-0CD8AAF0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Config loads from cwd, env overrides are partial, branch config is not honored, and invalid providers can publish nonsense.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78F77E-1B09-42D8-9F13-0750697C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09750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65AD18-08C0-4586-865B-D12A7C1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097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29BAC-719E-4AEB-A2A5-D24D9C34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52625"/>
            <a:ext cx="2000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Risk: no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469B9-A6F1-4339-B247-8D5FCBF5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383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A run is not a durable object. Failures, partial success, costs, clips, and sources are not first-class.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8DB0EB-34F3-4450-BCB9-3F0DAA5A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D9AFA-AAAA-4C8D-B95B-29A10DDC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623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72E154-C2A7-4DD4-92F0-843A02047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Risk: concurrency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909E17-8A15-40C9-A0EC-F7AFED86E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909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Telegram lock is in-memory only. CLI, watchdog restart, or future triggers can overlap on feed, git, logs, GPU.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29041E-BA30-428C-A358-19409C41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5014AD-9F0B-4A8B-A624-DFE9F108D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623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DA80F7-101A-4807-AB38-3456EA0A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052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Risk: publication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627B72-7F6B-4375-8619-1B038A0E3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RSS is string-edited, duration is target minutes, and a git failure leaves ambiguous local state.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B69444-0F84-456F-963A-04B55362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26098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4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86DF46-825D-4576-BBFD-AC52C2FB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2609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E400AF-75B7-402F-81CF-9A1A0BD7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23431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Risk: 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DE134D-7475-4FE8-8BA8-CA2579306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90975"/>
            <a:ext cx="2343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Sources and clips should be structured metadata. Spoken dialogue should not be the database.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FDBE8B-5348-4132-B0BB-42D95B38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22669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F520DE-9078-4DD6-89A5-D9FAC4B7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226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63"/>
          </a:solidFill>
          <a:ln xmlns:a="http://schemas.openxmlformats.org/drawingml/2006/main" w="0">
            <a:solidFill>
              <a:srgbClr val="365C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A66BFC-8131-4979-AD41-3C950745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05225"/>
            <a:ext cx="20002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Opportunity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A25B22-D037-4BFA-80A3-108A9730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90975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A manifest spine unlocks resume, approval, show notes, status, testing, and safer refactors.</a:t>
            </a:r>
          </a:p>
        </p:txBody>
      </p:sp>
    </p:spTree>
    <p:extLst>
      <p:ext uri="{BB962C8B-B14F-4D97-AF65-F5344CB8AC3E}">
        <p14:creationId xmlns:p14="http://schemas.microsoft.com/office/powerpoint/2010/main" val="115012457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94EA2A-4B40-4FCB-AE2F-E65CE612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C860A-0441-42D9-99A7-E7BCCDD7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0E5CFB-F8AA-496E-9963-8EBD0C81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571499-B52D-445F-847A-A645B966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SCRIPT 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2BE1C-B537-4BA7-9D15-682E74873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DD8D8-73FC-4DE2-A355-1577B123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Goal: less AI-sounding without losing factual density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81272-31F5-4001-81BF-E145A8349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script needs an editorial pipeline, not just a bigger prompt.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08CF47-88B1-4208-A603-FB01F2AD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4C165D-6A13-44E2-AB85-7D04475E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84366-2790-4CF5-960B-7CAC6C72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733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8A702-18F7-425E-A92A-0432BDAD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1733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Research brief -&gt; full dialogue -&gt; fact-check -&gt; TTS.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1CD94-B38B-49B7-A007-E6D4198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717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60AD6-5F77-441F-844B-A2896A98B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20A5FE-4226-451B-9F68-59611B89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381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4EE999-FBBA-4233-BBC4-3DACF31A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383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CE197-6DC9-4F47-953E-C7F9B66C0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114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A109D8-1868-42D2-B610-2541672A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57450"/>
            <a:ext cx="21145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Smooth, symmetrical, over-helpful conversation with spoken bibliography energy.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52E709-D333-4C24-AAFE-D5392E16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527D9F-7C4A-458C-9679-4A08A828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33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3B87A2-9DEC-4003-A93D-54F5C708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5029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0B166-9ECD-4E37-8C28-2DFA06C8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38350"/>
            <a:ext cx="5029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511ED1-E93C-4720-ABA5-51C2401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76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F4ABD1-F59A-487C-A4E0-DCFA58FA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 cards -&gt; thesis -&gt; beat sheet -&gt; host stances -&gt; draft -&gt; anti-cliche rewrite -&gt; performance script.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41B51E-C848-4891-8044-3E426D857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327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D973EC-4BAF-4FD7-8E62-A00AE007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9C5839-8460-4E79-AF8F-B1F44B49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Humanization rules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6AB569-224D-4581-8D95-9DFCFAC4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243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Let hosts disagree, be briefly wrong, recover, callback, joke lightly, and move citations to show notes unless the source is story-critical.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E6FB1A-25C3-4727-8E45-C601B5E7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3276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8BD7B-440D-44C5-B59A-5F9C88C5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909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DE83C-4EAD-4EB4-BC78-86BDC7B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624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Anti-template pass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16F8B8-BD98-4F6F-8BEA-F077D902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243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Ban repeated crutches: 'that's the thing', 'not just X but Y', 'this changes everything', and generic wonder without concrete detail.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233851-68D2-41B4-8BA9-E1ABE9CB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35433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C23EFB-E6F0-4D33-904C-FA06F957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90950"/>
            <a:ext cx="476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0F8DD0-973B-4D31-B7A3-EA84B400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62400"/>
            <a:ext cx="3124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Performance pass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A8DCB3-334C-4FAC-B044-650DB69A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3124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Use delivery tags sparingly. Add pauses and overlaps where they clarify the scene, not on every line.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BCAA15-D3B7-41F5-9463-76B8E2B8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Best first upgrade: approve the hook and beat sheet in Telegram before TTS.</a:t>
            </a:r>
          </a:p>
        </p:txBody>
      </p:sp>
    </p:spTree>
    <p:extLst>
      <p:ext uri="{BB962C8B-B14F-4D97-AF65-F5344CB8AC3E}">
        <p14:creationId xmlns:p14="http://schemas.microsoft.com/office/powerpoint/2010/main" val="17721970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D2D6D5-251B-4790-8887-6652F41C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25978C-A0C7-4EA3-BD2E-8E32945F5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4FE25-F7E7-400B-A7EB-18276F2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6DC21-D804-45AC-BCE8-15C1338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AUDIO AND RIGHTS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DDDB9-45DB-4745-968F-103CEE83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F1D0AD-6937-40A7-86FF-255D1C7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Sources: YouTube Terms, YouTube Help, U.S. Copyright Office fair use guidance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C7EE84-7C74-4B1C-9F42-35C58EA6B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most fun audio feature is also the highest release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D6CD6-0864-430E-9E95-E0F76926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7C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FCD88-7D5A-4CFD-856C-8AF6915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048D6C-C07E-4249-860C-E711B704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193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Default-on YouTube clips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4C527-AD66-46FF-BD42-4D7C9A11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Model-generated cues drive yt-dlp search and download. Popularity scoring is not a rights, accuracy, or audio-quality strategy.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0D810-6A64-4ED5-A990-36D4DF861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33337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C7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6200CF-51C2-4F07-9738-EB2D14E7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478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C2054C-E4E5-4082-8555-389001A4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193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Timecode bug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61CCA3-EFBD-4516-B2B2-DD8B2F97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81250"/>
            <a:ext cx="2914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The code downloads a segment around the target timestamp, then seeks again to the original timestamp inside that short raw file.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45B81-7DC0-459B-882A-0B6DB569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33147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4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F7897-B50F-46F9-9BDA-CE1AEDE4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4785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85F407-2908-424A-BCFF-2C0C2119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19300"/>
            <a:ext cx="2895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Production gap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71B097-7AD7-464E-BCBE-0FECBE34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81250"/>
            <a:ext cx="289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Multiple 128 kbps MP3 encodes, hard concatenation, no loudness normalization, no ducking, and simple fades.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D006FF-7B7F-4D29-A199-64AD7238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195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Risk / value profile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4E05CB-46D7-4941-8B4D-F076D9CE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Fun and texture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B5662-2A8A-43F5-AF25-F30B583C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57700"/>
            <a:ext cx="3143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8FEDAA-74AD-43FB-9BCF-8B66D9C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57700"/>
            <a:ext cx="3143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1A782F-0D23-4783-8360-C22C1C1C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429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6E4000-B698-47D7-B93D-3EB6C695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19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Publish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18E11B-5A4D-4A3D-B9F0-078E784C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38700"/>
            <a:ext cx="3143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B16EA7-1DB8-45BC-8F0F-77B8F97D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38700"/>
            <a:ext cx="3143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1F898F-64B5-4AD2-AA84-A667A77A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810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5/5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1AF709-6FF0-4DA7-8E07-44363E06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006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Current attribution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6425B-F259-435D-BAD5-3D2674718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19700"/>
            <a:ext cx="3143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C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3F1E52-5BD0-4F8F-B429-9B4955B8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219700"/>
            <a:ext cx="12573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8B58FC-CA6B-4CDE-B116-99E1354E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911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2/5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66896B-C4CE-4F14-B2B5-8A295C9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53721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AA317-E4B2-40DE-ADB4-4B97874B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1480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8D4D24-4C75-4BEC-BC15-AA4005F1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3624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Design answer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8203B4-1BB4-4714-A1E7-520F0BC6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053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D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D1"/>
                </a:solidFill>
                <a:latin typeface="Aptos"/>
                <a:ea typeface="Aptos"/>
                <a:cs typeface="Aptos"/>
              </a:rPr>
              <a:t>Default clips off for published runs. Add clip policy modes, rights ledger, approval, transcript-based timecodes, and a rights-safe sound library.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B431C9-130D-4003-9A38-30753EF7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657850"/>
            <a:ext cx="628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Audio answer: WAV/PCM intermediates -&gt; crossfades/ducking -&gt; loudness normalization -&gt; one final MP3 encode.</a:t>
            </a:r>
          </a:p>
        </p:txBody>
      </p:sp>
    </p:spTree>
    <p:extLst>
      <p:ext uri="{BB962C8B-B14F-4D97-AF65-F5344CB8AC3E}">
        <p14:creationId xmlns:p14="http://schemas.microsoft.com/office/powerpoint/2010/main" val="2175038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6AD5DA-58D1-4F0B-8294-253DE060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AA99E-C85A-4484-8B6C-30636F66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B1C63-1D06-4B96-91F5-1BE96776E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2425C9-B535-439D-8A1B-B9BC4AA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TELEGRAM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D4E7E7-D73C-440B-947F-08D17D12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66F79-E170-4784-9743-9905F566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Evidence: telegram_bot.py, telegram-instructions.md, watchdog.ps1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320D76-1462-460B-B333-28777AAB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Telegram should become the control room, not a bare text trigger.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8346A6-ABE5-40AE-9381-F078E7F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6DD603-D147-49DF-913C-1409B11E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478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6B8BD-92CE-4710-8993-220D4B87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90725"/>
            <a:ext cx="2114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/generate &lt;topic&gt;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7661F-89F5-4074-97AE-2737144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Only explicit commands start expensive work. Private chat by default; group chats require allowed chat IDs.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A9E99-AC41-41F4-93C5-EFC07309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478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1BD086-E81F-4045-9743-8FBA4164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478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1E9039-8F69-462F-88E2-C8C308A0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90725"/>
            <a:ext cx="2114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/status + /cancel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B3F5E8-5EFC-4564-8AB5-BEA91030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76475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Expose active stage, elapsed time, run id, and process-tree cancellation.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4F68E2-BD97-4454-8CCB-32BC03B4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381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6371D-A1AF-4371-81A5-DDFA9193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84785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EC155-84EF-4AAC-9E22-925ABE27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90725"/>
            <a:ext cx="21145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/queue + /next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6B0CA-1E01-410C-BA88-B58E57F3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276475"/>
            <a:ext cx="2114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Capture curiosity all day, then run the next topic intentionally.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A1B6C0-4386-4630-98DE-A4E3D286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3181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5970C0-56B9-4B0D-90FE-C4818690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47850"/>
            <a:ext cx="3181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7928AD-2AFF-48AF-AA88-2663C639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90725"/>
            <a:ext cx="291465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/doctor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A22FAB-2782-4A5B-B83F-A719AB65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76475"/>
            <a:ext cx="29146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Check keys, ffmpeg, git, disk, branch, bot identity, GPU/music availability.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AD825-4D6A-4A3E-AFB3-5C5DCE7E7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Approval card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0D4AEA-6B82-4C16-B3EF-593A2AEF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1125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E42DC9-D0BD-419E-B055-E2373A31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11125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3A868F-53B4-4BDF-8876-3F22B8DC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Director's Booth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61C168-64AF-4CC7-B2D0-4A4CDFDA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D5D1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C8D5D1"/>
                </a:solidFill>
                <a:latin typeface="Aptos"/>
                <a:ea typeface="Aptos"/>
                <a:cs typeface="Aptos"/>
              </a:rPr>
              <a:t>Before TTS, send hook, thesis, beat sheet, source cards, expected duration, clip policy, and estimated cost. Buttons: Approve, Shorter, Deeper, More skeptical, More wonder, No clips, Cancel.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F9667B-4286-4985-99D0-88CD851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933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Operational rule: bot and CLI both use the same lock file and manifest. The process-local asyncio lock is not enough.</a:t>
            </a:r>
          </a:p>
        </p:txBody>
      </p:sp>
    </p:spTree>
    <p:extLst>
      <p:ext uri="{BB962C8B-B14F-4D97-AF65-F5344CB8AC3E}">
        <p14:creationId xmlns:p14="http://schemas.microsoft.com/office/powerpoint/2010/main" val="190848311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938FA3-3DB8-4DC3-9AE1-46A8D4D6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9BD4B-4BD3-4B2A-B5D5-5E7552CF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92E7AE-789A-4E9A-9179-5CB1B46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DFF9A4-6650-4CD9-A4AE-6F3F3462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TARGET 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5DA83-C4EB-4EE8-BE0D-CF605E4C0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CBF19-C20B-4FD1-92FD-20ED70F7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Design recommendation: manifest spine before broad refactor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EF50F3-C11B-4F6B-BDAA-BB1F7A5C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Make each episode a durable object, then let every stage read and write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DCAA3-2BE3-4DC9-9E6D-5BC9B212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52600"/>
            <a:ext cx="29527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4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39FA6-C5A8-47FD-841E-B6E1FBBC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3835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EpisodeManifest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31D95-4148-4601-9886-513A7CCF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71750"/>
            <a:ext cx="16573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topic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options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models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source cards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claims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clips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audio stats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publish state</a:t>
            </a:r>
          </a:p>
          <a:p xmlns:a="http://schemas.openxmlformats.org/drawingml/2006/main">
            <a:pPr algn="ctr">
              <a:defRPr sz="1275" b="0">
                <a:solidFill>
                  <a:srgbClr val="D7E4E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7E4E0"/>
                </a:solidFill>
                <a:latin typeface="Aptos"/>
                <a:ea typeface="Aptos"/>
                <a:cs typeface="Aptos"/>
              </a:rPr>
              <a:t>errors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AF9570-E469-4FBB-A63D-EE2EB378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28B338-7E7B-461D-A8F1-43943F04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D3C4A6-279B-4FF3-A65C-26B90B12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4310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56D429-DAE1-4C6A-910B-4EFF02C4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Repo-root aware, typed, validated config.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31F4AD-8890-4D97-BC75-8925DC36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66900-5310-410F-B58C-B522C844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5EB68C-1D01-4F61-B499-CE33A72E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828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Job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0986AD-237A-4E94-B085-C05C2A10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828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Lock, PID, stale recovery, timeout, cancel.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D62BD-627D-4594-A343-5F2BF3C7B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6E11A2-203F-42C6-B6B1-AF4C0C93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790700"/>
            <a:ext cx="2686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B04AE-DB18-4044-B341-663B17DC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4310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Research/script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AE60EA-1357-45A5-BC20-76438368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0980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 cards, claims, beat sheet, performance script.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F89259-3269-4115-BD2B-6D6E166B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52850"/>
            <a:ext cx="26860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7839F-CB0E-4C47-B19A-EB0172103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52850"/>
            <a:ext cx="2686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423003-F7D6-44A4-8B50-98C9DF4F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05250"/>
            <a:ext cx="2419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Audio/publish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43271-5866-4CE1-9087-C28E9426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71950"/>
            <a:ext cx="24193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Normalize, duration, show notes, RSS, git state.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4080CE-0CD5-47F7-A547-7ABBCE8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47900"/>
            <a:ext cx="192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78F395-991F-422F-B046-B32CCEA57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A0332C-8EE7-47A1-9298-F27EA231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10050"/>
            <a:ext cx="1924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7C1671-6A07-421D-A87C-95C9DA9A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A2093D-0A2A-4E65-84E8-C5714347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1AD68F-1C0E-4119-B4D2-1F13EB85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5502A3-817B-4F99-A43E-DF3FD21D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210050"/>
            <a:ext cx="1314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FA2D9D5-5428-43EB-AC39-3E468EF1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7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7478"/>
          </a:solidFill>
          <a:ln xmlns:a="http://schemas.openxmlformats.org/drawingml/2006/main" w="0">
            <a:solidFill>
              <a:srgbClr val="6A747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9D5E24-EF40-4D90-BA8F-BB6597CF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Why this first?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422D05-196E-4FF8-A4FA-630D431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41020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It fixes observability, resume, Telegram status, RSS quality, testing, and safer module extraction in one move.</a:t>
            </a:r>
          </a:p>
        </p:txBody>
      </p:sp>
    </p:spTree>
    <p:extLst>
      <p:ext uri="{BB962C8B-B14F-4D97-AF65-F5344CB8AC3E}">
        <p14:creationId xmlns:p14="http://schemas.microsoft.com/office/powerpoint/2010/main" val="214697549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10D070-BC33-4A65-9447-9AF8D41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0C7AB-7A43-4D4E-A6E3-F2EFC1B9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33406-C6BE-43DE-A1F6-D24F91FC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00BE55-1502-4A1D-AD36-61013635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3C34B-BA36-461D-A770-D6415B60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03F0A7-23C6-4A11-90A9-7D1F5788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Recommendation: boring foundations first, show magic second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B7410B-54D8-4229-8F98-50073052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The next six phases turn a working script into a trustworthy studio.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9BDF0B-2C4C-4881-AFB5-A4E64390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782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FB669-CB6A-4734-97BA-87DA39EB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C75C95-38D6-4E37-9612-A3AB9244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2074C-9CA3-4F63-8F85-8711461D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rPr>
              <a:t>P0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360C3B-21E3-4A5C-9442-E785A810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Brand + safety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0EF5A-C2C7-4B9F-B6AD-A03BCDD5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Pick name, remove imitation copy, clips off, disclosure, env docs.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5D9B77-06D8-4201-9283-EFE121A8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82D8C-A423-4C8D-801E-DF351CAC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2DA67A-8D19-4DD8-8AF6-0BB0C2B1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78A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4A78A8"/>
                </a:solidFill>
                <a:latin typeface="Aptos Display"/>
                <a:ea typeface="Aptos Display"/>
                <a:cs typeface="Aptos Display"/>
              </a:rPr>
              <a:t>P1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8D76B2-1E3F-4983-8712-3080BC8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Manifest + RSS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DD25DA-F79B-4544-B0B3-C7B8311F3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Source cards, duration, state, show notes, XML generation.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0056AF-6026-4A6E-8917-2E6BBBD0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EA201-5BF7-473D-ADF3-41AE5753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F698DE-196F-45D8-ACAB-4E5A710E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9A441"/>
                </a:solidFill>
                <a:latin typeface="Aptos Display"/>
                <a:ea typeface="Aptos Display"/>
                <a:cs typeface="Aptos Display"/>
              </a:rPr>
              <a:t>P2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BC1D7C-9E1F-48F8-B511-94DD85F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Telegram 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D8315-792E-4F9C-BF3C-E74DE2BC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Commands, queue, status, cancel, doctor, cross-process lock.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658FBD-5D2C-474B-AA77-50422727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B7922D-3E3B-4EBE-811E-CD03B1A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3A5031-043B-4ED9-B607-D184714D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AB9A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8AB9A8"/>
                </a:solidFill>
                <a:latin typeface="Aptos Display"/>
                <a:ea typeface="Aptos Display"/>
                <a:cs typeface="Aptos Display"/>
              </a:rPr>
              <a:t>P3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EF268-C89B-46AC-8BFD-8CD21DD3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Script quality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DBAB58-95F4-4F67-B485-DD9E381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Beat sheet, host stances, anti-cliche rewrite, approval.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424BB7-886A-45A8-8688-E539276F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02880A-E82D-419B-ADA1-BFD0F586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63"/>
          </a:solidFill>
          <a:ln xmlns:a="http://schemas.openxmlformats.org/drawingml/2006/main" w="0">
            <a:solidFill>
              <a:srgbClr val="365C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4C872D-EBF2-49D0-826F-B823D2F5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5C63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365C63"/>
                </a:solidFill>
                <a:latin typeface="Aptos Display"/>
                <a:ea typeface="Aptos Display"/>
                <a:cs typeface="Aptos Display"/>
              </a:rPr>
              <a:t>P4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36684A-95D4-4361-B8EC-A99F49D0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Audio craft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2505C-5DB3-4177-A9D2-2ACB823A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Normalize, crossfade, duck, final encode, safe sound library.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A6E876-9D2A-46F6-9A21-223CB1EB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15430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8B7A4F-AA94-4EC5-82E6-711FDD4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43150"/>
            <a:ext cx="1543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E3E710-AEA9-42FA-BDEB-0518FCAC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457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C84F38"/>
                </a:solidFill>
                <a:latin typeface="Aptos Display"/>
                <a:ea typeface="Aptos Display"/>
                <a:cs typeface="Aptos Display"/>
              </a:rPr>
              <a:t>P5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31281-ECDB-4371-993D-97AD9800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14650"/>
            <a:ext cx="1200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72026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72026"/>
                </a:solidFill>
                <a:latin typeface="Aptos"/>
                <a:ea typeface="Aptos"/>
                <a:cs typeface="Aptos"/>
              </a:rPr>
              <a:t>Companion player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0086F5-A086-41B9-99AC-436B11D5A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90900"/>
            <a:ext cx="1200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3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Transcript, chapters, sources, clips, follow-up prompts.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EED79C-2E9F-4E28-ACA6-DE190CDB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340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Sprint 1 should ship: typed config, clip default off, manifest, true duration, /generate, /status, and lock file.</a:t>
            </a:r>
          </a:p>
        </p:txBody>
      </p:sp>
    </p:spTree>
    <p:extLst>
      <p:ext uri="{BB962C8B-B14F-4D97-AF65-F5344CB8AC3E}">
        <p14:creationId xmlns:p14="http://schemas.microsoft.com/office/powerpoint/2010/main" val="110028995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D0CCC-C5DF-4776-AB57-AD116705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30C434-C4A5-4A1A-8E79-E14342F0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D9"/>
          </a:solidFill>
          <a:ln xmlns:a="http://schemas.openxmlformats.org/drawingml/2006/main" w="0">
            <a:solidFill>
              <a:srgbClr val="D7DED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6230C4-0B45-4C64-A016-D0CAFA87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685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DD018D-1FDB-4C57-B7C5-37FA935BA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90525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A7478"/>
                </a:solidFill>
                <a:latin typeface="Aptos"/>
                <a:ea typeface="Aptos"/>
                <a:cs typeface="Aptos"/>
              </a:rPr>
              <a:t>DECISION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1F606-CA6C-44E2-B1D5-831C8C79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362700"/>
            <a:ext cx="457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A7478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096842-4007-4768-91B1-EF660E6C4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933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First implementation design choices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1B8E-F3BB-4C3E-BF78-8D08DFC4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933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First sprint: make the system trustworthy before making it flashier.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5397B-3391-47E5-945B-B702E8EE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AC7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42DF6-6B04-4E22-87F8-1C2F3154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71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41"/>
          </a:solidFill>
          <a:ln xmlns:a="http://schemas.openxmlformats.org/drawingml/2006/main" w="0">
            <a:solidFill>
              <a:srgbClr val="D9A4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C821E-7413-454C-B852-D5D62BD2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Decide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C3EDE9-2495-417D-96CB-A21DBB81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0505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Brand name; default private/draft/publish mode; clip policy; whether the old email path stays archived.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5D3B76-C561-4484-83B3-6DF43566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FE8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0B766C-9210-478F-8AD0-C4F04828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71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CB4F0-731D-4FE8-8C70-AEE26B10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43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Implement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9DCA3D-02FB-40AB-B93A-CD1CA7E3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Typed config, EpisodeManifest, true duration, structured sources, AI disclosure, clip default off.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F8D230-815F-4E26-AD9A-24516E8A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9F4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834C8-652A-43A1-9F07-8257ACC8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A8"/>
          </a:solidFill>
          <a:ln xmlns:a="http://schemas.openxmlformats.org/drawingml/2006/main" w="0">
            <a:solidFill>
              <a:srgbClr val="4A78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2D52A2-A140-43F7-BACB-20FF4148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Harden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186B2-4CB5-4DB3-BD79-F088C76A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0505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Command-only Telegram, cross-process lock, runtime timeout, cancel, per-run logs, sanitized failure summaries.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7257E-F2A3-4EC4-A671-ACE7B90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7AB244-3482-435F-8FB7-430BA5ED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F38"/>
          </a:solidFill>
          <a:ln xmlns:a="http://schemas.openxmlformats.org/drawingml/2006/main" w="0">
            <a:solidFill>
              <a:srgbClr val="C84F3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CF762-662A-45D6-9552-864A79D3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04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Upgrade writing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B9D7F0-52C8-467F-B011-AD3971B0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624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Hook approval, beat sheet, host stance map, anti-cliche rewrite, show notes from metadata.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608171-FDBB-4AD3-A3D8-41B7B829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5F471A-76C9-4949-ADC1-3F8D72D1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63"/>
          </a:solidFill>
          <a:ln xmlns:a="http://schemas.openxmlformats.org/drawingml/2006/main" w="0">
            <a:solidFill>
              <a:srgbClr val="365C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D3DA78-4919-4782-8924-411B577F6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004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Upgrade audio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8CBCE4-1817-445F-8B92-CBA4050F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624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WAV intermediates, single final encode, loudness normalization, ducking, crossfades, rights-safe stingers.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DCFD78-0A98-4199-A6DB-42E58E07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429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2C051-8863-4460-89D8-C3E05EA1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B9A8"/>
          </a:solidFill>
          <a:ln xmlns:a="http://schemas.openxmlformats.org/drawingml/2006/main" w="0">
            <a:solidFill>
              <a:srgbClr val="8AB9A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CCE71D-AD4C-4DFB-A349-C0EA9719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600450"/>
            <a:ext cx="3009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Upgrade learning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718B48-C111-4191-8BD1-FE4A1EA66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62400"/>
            <a:ext cx="3009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A74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A7478"/>
                </a:solidFill>
                <a:latin typeface="Aptos"/>
                <a:ea typeface="Aptos"/>
                <a:cs typeface="Aptos"/>
              </a:rPr>
              <a:t>Companion transcript, source cards, chapters, glossary, quiz/follow-up loop, learning-path mode.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8EB79-9E39-41EF-9F0A-9F837D4C3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Bottom line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F29515-2064-4919-AAB2-659049A81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353050"/>
            <a:ext cx="838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172026"/>
                </a:solidFill>
                <a:latin typeface="Aptos Display"/>
                <a:ea typeface="Aptos Display"/>
                <a:cs typeface="Aptos Display"/>
              </a:rPr>
              <a:t>Do not build more slop. Build a small, opinionated, source-backed radio machine that feels like it belongs to you.</a:t>
            </a:r>
          </a:p>
        </p:txBody>
      </p:sp>
    </p:spTree>
    <p:extLst>
      <p:ext uri="{BB962C8B-B14F-4D97-AF65-F5344CB8AC3E}">
        <p14:creationId xmlns:p14="http://schemas.microsoft.com/office/powerpoint/2010/main" val="8501770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2026-05-11T16:19:49.3520000Z</dcterms:created>
  <dcterms:modified xsi:type="dcterms:W3CDTF">2026-05-11T16:19:49.3530000Z</dcterms:modified>
</coreProperties>
</file>